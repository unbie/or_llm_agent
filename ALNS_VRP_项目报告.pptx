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39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104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726746"/>
            <a:ext cx="8298996" cy="14091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基于大语言模型自动生成启发式算子的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ALNS算法求解生鲜物流VRP问题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0" y="3017520"/>
            <a:ext cx="3657600" cy="54864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Contents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3160" y="123852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项目概述 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3160" y="17414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系统架构 System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3160" y="224436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算法设计 Algorithm Design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3160" y="27472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成本模型 Cost Model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160" y="325020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开发历程 Development Journey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13160" y="375312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实验结果 Experimental Results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3160" y="425604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总结展望 Conclusion &amp; Future Work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项目概述 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 Background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车辆路径问题 (</a:t>
            </a: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VRP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 是经典的 </a:t>
            </a: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NP-hard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问题
</a:t>
            </a:r>
            <a:r>
              <a:rPr lang="en-US" sz="2000" dirty="0">
                <a:solidFill>
                  <a:srgbClr val="1F2937"/>
                </a:solidFill>
              </a:rPr>
              <a:t>• </a:t>
            </a:r>
            <a:r>
              <a:rPr lang="en-US" sz="20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生鲜物流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场景：新鲜度衰减 + 冷链成本 + 时间窗约束
• 传统 </a:t>
            </a:r>
            <a:r>
              <a:rPr lang="en-US" sz="2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ALNS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依赖人工设计算子，开发周期长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 Objectives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利用 </a:t>
            </a: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(DeepSeek R1)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自动生成 ALNS 算子代码
• 实现"</a:t>
            </a:r>
            <a:r>
              <a:rPr lang="en-US" sz="2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生成算子 + 框架执行求解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"的混合架构
• 在 Solomon 基准上验证算法性能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 Core Innovations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40180"/>
            <a:ext cx="3931920" cy="1507126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插件式架构</a:t>
            </a: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Plugin Architecture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 ALNS 框架与算子实现解耦，LLM 代码作为插件注入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1440178"/>
            <a:ext cx="3931920" cy="1507127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自动调试机制</a:t>
            </a: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Auto-Debugging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多轮对话反馈执行错误，LLM 自主修正代码直至成功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399"/>
            <a:ext cx="3966210" cy="1575707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完整成本模型</a:t>
            </a: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 Model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融合固定、距离、制冷、货损、时间窗惩罚的五维成本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3200400"/>
            <a:ext cx="3966210" cy="1575706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5029200" y="33375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02920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自适应权重</a:t>
            </a:r>
            <a:r>
              <a:rPr lang="en-US" sz="1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Adaptive Weights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0" y="4206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引入权重下限保护机制，防止算子饥饿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4133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系统架构 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47058" y="914400"/>
            <a:ext cx="731520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129938" y="105156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交互层 </a:t>
            </a: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(Interaction Layer)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29938" y="137241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llm_heuristic.py + heuristic_prompts.py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LLM API 调用 • 代码提取与合并 • 多轮错误反馈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0619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插件注入 Plugin Pattern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47058" y="2377440"/>
            <a:ext cx="731520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29938" y="25146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ALNS 框架层 </a:t>
            </a: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(Framework Layer)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9938" y="2845662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heuristic_skeleton.py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破坏/修复阶段 • </a:t>
            </a:r>
            <a:r>
              <a:rPr lang="en-US" sz="1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轮盘赌选择+模拟退火</a:t>
            </a:r>
            <a:r>
              <a:rPr lang="zh-CN" alt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• 自适应权重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33058" y="347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r>
              <a:rPr lang="en-US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成本评估 Cost Evaluation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47058" y="3862524"/>
            <a:ext cx="7315200" cy="1005839"/>
          </a:xfrm>
          <a:prstGeom prst="rect">
            <a:avLst/>
          </a:prstGeom>
          <a:solidFill>
            <a:srgbClr val="F3F4F6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29938" y="397764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成本计算层 </a:t>
            </a:r>
            <a:r>
              <a:rPr lang="en-US" sz="14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(Cost Layer)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29938" y="4343400"/>
            <a:ext cx="6949440" cy="502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utils.py - FreshnessAndPenaltyCalculator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C₁₁ 固定成本 • C₁₂ 距离成本 • C₁₃ 制冷成本 • C₂ 货损成本 • C₃ 时间窗惩罚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算法设计 Algorithm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ALNS 算子设计 Operator Design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7863840" cy="27432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算子名称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策略描述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破坏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random_removal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随机选择 k 个客户节点移除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破坏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route_removal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随机选择整条路径移除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DC26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破坏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string_removal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移除路径中连续的节点段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3B82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greedy_insert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插入成本增量最小的位置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3B82F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修复</a:t>
                      </a:r>
                      <a:endParaRPr lang="en-US" sz="2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regret_insert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优先插入后悔值最大的节点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成本模型 Cost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188720"/>
            <a:ext cx="6400800" cy="73152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</a:t>
            </a:r>
            <a:r>
              <a:rPr lang="en-US" sz="2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24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C₁₁ + C₁₂ + C₁₃ + C₂ + C₃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56032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85800" y="2395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C₁₁</a:t>
            </a: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车辆固定成本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7614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× 240 元/车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2286000"/>
            <a:ext cx="256032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520440" y="2395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C₁₂</a:t>
            </a: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运输距离成本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27614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总距离 × 3 元/km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256032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55080" y="2395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C₁₃</a:t>
            </a: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冷链制冷成本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27614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行驶时间 × 15 元/h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411480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85800" y="3675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C₂</a:t>
            </a: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货损成本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" y="40416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新鲜度衰减模型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1 - exp(-θ₁Δt - θ₂t')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383280" y="3566160"/>
            <a:ext cx="4114800" cy="109728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520440" y="36758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C₃</a:t>
            </a:r>
            <a:r>
              <a:rPr lang="en-US" sz="2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时间窗惩罚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520440" y="40416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早到 20 元/h</a:t>
            </a:r>
            <a:r>
              <a:rPr lang="en-US" sz="1400" dirty="0"/>
              <a:t>       </a:t>
            </a:r>
            <a:r>
              <a:rPr lang="en-US" sz="1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迟到</a:t>
            </a: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40 元/h</a:t>
            </a:r>
            <a:r>
              <a:rPr lang="en-US" sz="1400" dirty="0"/>
              <a:t>    </a:t>
            </a:r>
            <a:r>
              <a:rPr lang="en-US" sz="1400" dirty="0" err="1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硬违反</a:t>
            </a: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300 元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提示工程 Prompt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六层提示词结构设计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86384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77240" y="17465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角色定义 - ALNS 算法 Python 工程师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786384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77240" y="22037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成本计算强制要求 - 必须使用 calculate_route_cost()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786384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10" name="Text 8"/>
          <p:cNvSpPr/>
          <p:nvPr/>
        </p:nvSpPr>
        <p:spPr>
          <a:xfrm>
            <a:off x="777240" y="26609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算子配置 -  5 个算子（3 破坏 + 2 修复）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786384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77240" y="31181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</a:t>
            </a: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数据结构与接口说明 - solution, dist_matrix, capacity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520440"/>
            <a:ext cx="786384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77240" y="35753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5</a:t>
            </a: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各算子实现指南 - 功能 → 步骤 → 关键代码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7863840" cy="384048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77240" y="403250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6</a:t>
            </a: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检查清单 - 5 个算子 ✓ 完整成本 ✓ 边界处理 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开发历程 Development Journey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196397"/>
            <a:ext cx="54864" cy="493776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zh-CN" altLang="en-US" sz="1600"/>
          </a:p>
        </p:txBody>
      </p:sp>
      <p:sp>
        <p:nvSpPr>
          <p:cNvPr id="5" name="Shape 3"/>
          <p:cNvSpPr/>
          <p:nvPr/>
        </p:nvSpPr>
        <p:spPr>
          <a:xfrm>
            <a:off x="960120" y="1251261"/>
            <a:ext cx="4572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6" name="Text 4"/>
          <p:cNvSpPr/>
          <p:nvPr/>
        </p:nvSpPr>
        <p:spPr>
          <a:xfrm>
            <a:off x="960120" y="125126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C2626"/>
                </a:solidFill>
                <a:latin typeface="Arial" pitchFamily="34" charset="0"/>
                <a:cs typeface="Arial" pitchFamily="34" charset="-120"/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54480" y="1251261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1: 框架搭建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54480" y="1543869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__init__ 属性不匹配 | LLM 生成错误算子 | 简化距离计算 | 代码执行超时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1745037"/>
            <a:ext cx="54864" cy="49377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 sz="1600"/>
          </a:p>
        </p:txBody>
      </p:sp>
      <p:sp>
        <p:nvSpPr>
          <p:cNvPr id="10" name="Shape 8"/>
          <p:cNvSpPr/>
          <p:nvPr/>
        </p:nvSpPr>
        <p:spPr>
          <a:xfrm>
            <a:off x="960120" y="1799901"/>
            <a:ext cx="4572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1" name="Text 9"/>
          <p:cNvSpPr/>
          <p:nvPr/>
        </p:nvSpPr>
        <p:spPr>
          <a:xfrm>
            <a:off x="960120" y="179990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54480" y="1799901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2: 参数调优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54480" y="2092509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随机种子固定 | 迭代次数不足 | 可视化风格不当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2293677"/>
            <a:ext cx="54864" cy="49377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 sz="1600"/>
          </a:p>
        </p:txBody>
      </p:sp>
      <p:sp>
        <p:nvSpPr>
          <p:cNvPr id="15" name="Shape 13"/>
          <p:cNvSpPr/>
          <p:nvPr/>
        </p:nvSpPr>
        <p:spPr>
          <a:xfrm>
            <a:off x="960120" y="2348541"/>
            <a:ext cx="4572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16" name="Text 14"/>
          <p:cNvSpPr/>
          <p:nvPr/>
        </p:nvSpPr>
        <p:spPr>
          <a:xfrm>
            <a:off x="960120" y="234854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C2626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54480" y="2348541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3: 结构优化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54480" y="2641149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多次运行冗余 | 进度条失效 | 图表空白 | 统计数据未输出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2842317"/>
            <a:ext cx="54864" cy="49377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 sz="1600"/>
          </a:p>
        </p:txBody>
      </p:sp>
      <p:sp>
        <p:nvSpPr>
          <p:cNvPr id="20" name="Shape 18"/>
          <p:cNvSpPr/>
          <p:nvPr/>
        </p:nvSpPr>
        <p:spPr>
          <a:xfrm>
            <a:off x="960120" y="2897181"/>
            <a:ext cx="4572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21" name="Text 19"/>
          <p:cNvSpPr/>
          <p:nvPr/>
        </p:nvSpPr>
        <p:spPr>
          <a:xfrm>
            <a:off x="960120" y="289718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C2626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54480" y="2897181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4: 性能提升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54480" y="3189789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route_removal 算子饥饿 | 图表标注重叠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445821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77240" y="3413005"/>
            <a:ext cx="54864" cy="49377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 sz="1600"/>
          </a:p>
        </p:txBody>
      </p:sp>
      <p:sp>
        <p:nvSpPr>
          <p:cNvPr id="30" name="Shape 28"/>
          <p:cNvSpPr/>
          <p:nvPr/>
        </p:nvSpPr>
        <p:spPr>
          <a:xfrm>
            <a:off x="960120" y="3467869"/>
            <a:ext cx="4572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1" name="Text 29"/>
          <p:cNvSpPr/>
          <p:nvPr/>
        </p:nvSpPr>
        <p:spPr>
          <a:xfrm>
            <a:off x="960120" y="346786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54480" y="3467869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6: 收敛曲线优化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554480" y="3760477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温度参数过激 | 破坏比例过大 | 固定阈值不缩放 | 缺成本上限保护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" y="3961645"/>
            <a:ext cx="54864" cy="493776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 sz="1600"/>
          </a:p>
        </p:txBody>
      </p:sp>
      <p:sp>
        <p:nvSpPr>
          <p:cNvPr id="35" name="Shape 33"/>
          <p:cNvSpPr/>
          <p:nvPr/>
        </p:nvSpPr>
        <p:spPr>
          <a:xfrm>
            <a:off x="960120" y="4016509"/>
            <a:ext cx="457200" cy="32004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 sz="1600"/>
          </a:p>
        </p:txBody>
      </p:sp>
      <p:sp>
        <p:nvSpPr>
          <p:cNvPr id="36" name="Text 34"/>
          <p:cNvSpPr/>
          <p:nvPr/>
        </p:nvSpPr>
        <p:spPr>
          <a:xfrm>
            <a:off x="960120" y="401650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1554480" y="4016509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7: 可视化增强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554480" y="4309117"/>
            <a:ext cx="6949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多运行数据混合 | 缺少平滑处理 | Current Cost 语义混淆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8214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实验结果 Experimental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13258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82880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最优成本 Optimal Cost (元)</a:t>
            </a:r>
            <a:endParaRPr lang="en-US" sz="2000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858BBDC9-A26C-7554-3D43-B7BB7F8E8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63" y="1522640"/>
            <a:ext cx="8786861" cy="27187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主要结论 Main 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326051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可有效生成 ALNS 算子：</a:t>
            </a: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R1 在提示工程引导下，能够生成功能正确的破坏和修复算子代码，在 Solomon C105 基准上取得 42,023.80 的目标函数值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804672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34440" y="224036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插件式架构保证鲁棒性：</a:t>
            </a: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Skeleton + Plugin 的解耦设计，配合 Fallback 机制，即使 LLM 生成的部分算子存在缺陷，系统仍能正常运行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804672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731520" y="32461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200486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自适应机制的重要性：</a:t>
            </a: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权重下限保护、自适应破坏比例、重启再加热等机制显著影响算法性能，防止过早收敛和算子饥饿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solidFill>
            <a:srgbClr val="F3F4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420555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单次运行即可：</a:t>
            </a:r>
            <a:r>
              <a:rPr lang="en-US" sz="16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内置的三重随机化机制使单次 solve() 已具备足够的搜索能力，多次运行的边际收益极低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局限性与未来工作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 </a:t>
            </a:r>
            <a:r>
              <a:rPr lang="en-US" sz="2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2000" dirty="0">
                <a:solidFill>
                  <a:srgbClr val="1F2937"/>
                </a:solidFill>
              </a:rPr>
              <a:t>• </a:t>
            </a: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问题规模：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当前仅在 100 客户规模上测试
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1F2937"/>
                </a:solidFill>
              </a:rPr>
              <a:t>• </a:t>
            </a: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依赖：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算子质量取决于 LLM 能力
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1F2937"/>
                </a:solidFill>
              </a:rPr>
              <a:t>• </a:t>
            </a: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成本函数固定：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扩展到其他 VRP 变体需重新设计
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1F2937"/>
                </a:solidFill>
              </a:rPr>
              <a:t>• </a:t>
            </a: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缺少对比基线：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未与手工 ALNS 系统对比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663440" y="1188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未来工作 </a:t>
            </a:r>
            <a:r>
              <a:rPr lang="en-US" sz="20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0" y="164592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2000" dirty="0">
                <a:solidFill>
                  <a:srgbClr val="1F2937"/>
                </a:solidFill>
              </a:rPr>
              <a:t>• </a:t>
            </a:r>
            <a:r>
              <a:rPr lang="en-US" sz="20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 LLM 对比：</a:t>
            </a: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GPT-4o、Claude、Gemini 等模型
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1F2937"/>
                </a:solidFill>
              </a:rPr>
              <a:t>• </a:t>
            </a: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自适应提示：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根据执行结果调整提示词
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1F2937"/>
                </a:solidFill>
              </a:rPr>
              <a:t>• </a:t>
            </a: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大规模测试：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Solomon R/RC 类和 G&amp;H 大规模实例
</a:t>
            </a:r>
            <a:endParaRPr lang="en-US" sz="2000" dirty="0"/>
          </a:p>
          <a:p>
            <a:pPr>
              <a:buSzPct val="100000"/>
            </a:pPr>
            <a:r>
              <a:rPr lang="en-US" sz="2000" dirty="0">
                <a:solidFill>
                  <a:srgbClr val="1F2937"/>
                </a:solidFill>
              </a:rPr>
              <a:t>• </a:t>
            </a:r>
            <a:r>
              <a:rPr lang="en-US" sz="20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算子进化：</a:t>
            </a:r>
            <a:r>
              <a:rPr lang="en-US" sz="2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 根据统计数据改进低效算子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636</Words>
  <Application>Microsoft Office PowerPoint</Application>
  <PresentationFormat>全屏显示(16:9)</PresentationFormat>
  <Paragraphs>134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基于LLM的ALNS算法求解VRP问题</dc:title>
  <dc:subject>ALNS Algorithm with LLM-Generated Operators</dc:subject>
  <dc:creator>Zhang &amp; Luo | OR-LLM-Agent</dc:creator>
  <cp:lastModifiedBy>黄纤纤</cp:lastModifiedBy>
  <cp:revision>3</cp:revision>
  <dcterms:created xsi:type="dcterms:W3CDTF">2026-02-13T10:37:12Z</dcterms:created>
  <dcterms:modified xsi:type="dcterms:W3CDTF">2026-03-05T08:09:49Z</dcterms:modified>
</cp:coreProperties>
</file>